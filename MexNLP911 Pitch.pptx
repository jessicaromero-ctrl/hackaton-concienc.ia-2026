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746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07A">
              <a:alpha val="8000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840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292608"/>
            <a:ext cx="2377440" cy="2560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49" charset="0"/>
              </a:rPr>
              <a:t>CONCIENC.IA HACKATHON 2026</a:t>
            </a:r>
            <a:endParaRPr lang="en-US" sz="900" dirty="0">
              <a:latin typeface="Consolas" panose="020B0609020204030204" pitchFamily="49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MexNLP-911</a:t>
            </a:r>
            <a:endParaRPr lang="en-US" sz="5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847088"/>
            <a:ext cx="5303520" cy="457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para Emergencias 911 CDMX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2542032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Clasificación de emergencias · Lenguaje </a:t>
            </a:r>
            <a:r>
              <a:rPr lang="en-US" sz="1200" dirty="0" err="1">
                <a:solidFill>
                  <a:srgbClr val="AAAAA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coloquial</a:t>
            </a:r>
            <a:r>
              <a:rPr lang="en-US" sz="1200" dirty="0">
                <a:solidFill>
                  <a:srgbClr val="AAAAA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Mexicano de Ciudad de México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Arquitectura multi-agente · Coordinación de recursos institucionales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0" y="1280160"/>
            <a:ext cx="1920240" cy="868680"/>
          </a:xfrm>
          <a:prstGeom prst="rect">
            <a:avLst/>
          </a:prstGeom>
          <a:solidFill>
            <a:srgbClr val="1AAA55">
              <a:alpha val="85000"/>
            </a:srgbClr>
          </a:solidFill>
          <a:ln w="12700">
            <a:solidFill>
              <a:srgbClr val="1A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481328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52360" y="1481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Salud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858000" y="2395728"/>
            <a:ext cx="1920240" cy="868680"/>
          </a:xfrm>
          <a:prstGeom prst="rect">
            <a:avLst/>
          </a:prstGeom>
          <a:solidFill>
            <a:srgbClr val="8400E0">
              <a:alpha val="85000"/>
            </a:srgbClr>
          </a:solidFill>
          <a:ln w="12700">
            <a:solidFill>
              <a:srgbClr val="840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2596896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5968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Seguridad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858000" y="3511296"/>
            <a:ext cx="1920240" cy="868680"/>
          </a:xfrm>
          <a:prstGeom prst="rect">
            <a:avLst/>
          </a:prstGeom>
          <a:solidFill>
            <a:srgbClr val="E07800">
              <a:alpha val="85000"/>
            </a:srgbClr>
          </a:solidFill>
          <a:ln w="12700">
            <a:solidFill>
              <a:srgbClr val="E0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371246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52360" y="37124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Bomberos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3200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hackathon.youngaileaders.info  ·  5–6 Junio 2026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1A0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560320" cy="36576"/>
          </a:xfrm>
          <a:prstGeom prst="rect">
            <a:avLst/>
          </a:prstGeom>
          <a:solidFill>
            <a:srgbClr val="C00000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M+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82880" y="1874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llamadas 911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al año en CDMX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242316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82880" y="3063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sistemas que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entienden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coloquialismos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36118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min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82880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promedio de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clasificación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manual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¿Cuál es el gap?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83280" y="960120"/>
            <a:ext cx="5532120" cy="1143000"/>
          </a:xfrm>
          <a:prstGeom prst="rect">
            <a:avLst/>
          </a:prstGeom>
          <a:solidFill>
            <a:srgbClr val="E03030">
              <a:alpha val="10000"/>
            </a:srgbClr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83280" y="960120"/>
            <a:ext cx="109728" cy="11430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069848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041648" y="10332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014"/>
                </a:solidFill>
              </a:rPr>
              <a:t>Lenguaje coloquial no reconocido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41648" y="134416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/>
              <a:t>"Se le fue la onda" = síncope. "Está azul" = cianosis.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/>
              <a:t>Ningún sistema NLP existente lo interpreta.</a:t>
            </a:r>
          </a:p>
        </p:txBody>
      </p:sp>
      <p:sp>
        <p:nvSpPr>
          <p:cNvPr id="17" name="Shape 14"/>
          <p:cNvSpPr/>
          <p:nvPr/>
        </p:nvSpPr>
        <p:spPr>
          <a:xfrm>
            <a:off x="3383280" y="2258568"/>
            <a:ext cx="5532120" cy="1143000"/>
          </a:xfrm>
          <a:prstGeom prst="rect">
            <a:avLst/>
          </a:prstGeom>
          <a:solidFill>
            <a:srgbClr val="E07800">
              <a:alpha val="10000"/>
            </a:srgbClr>
          </a:solidFill>
          <a:ln w="12700">
            <a:solidFill>
              <a:srgbClr val="E0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383280" y="2258568"/>
            <a:ext cx="109728" cy="1143000"/>
          </a:xfrm>
          <a:prstGeom prst="rect">
            <a:avLst/>
          </a:prstGeom>
          <a:solidFill>
            <a:srgbClr val="E07800"/>
          </a:solidFill>
          <a:ln w="12700">
            <a:solidFill>
              <a:srgbClr val="E0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368296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41648" y="2331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014"/>
                </a:solidFill>
              </a:rPr>
              <a:t>Solo emergencias médicas atendidas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041648" y="264261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/>
              <a:t>Asaltos, robos y violencia ciudadana no tienen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/>
              <a:t>clasificación ni coordinación multi-institucional</a:t>
            </a:r>
            <a:r>
              <a:rPr lang="en-US" sz="950" dirty="0">
                <a:solidFill>
                  <a:srgbClr val="555555"/>
                </a:solidFill>
              </a:rPr>
              <a:t>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383280" y="3557016"/>
            <a:ext cx="5532120" cy="1143000"/>
          </a:xfrm>
          <a:prstGeom prst="rect">
            <a:avLst/>
          </a:prstGeom>
          <a:solidFill>
            <a:srgbClr val="8400E0">
              <a:alpha val="10000"/>
            </a:srgbClr>
          </a:solidFill>
          <a:ln w="12700">
            <a:solidFill>
              <a:srgbClr val="840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383280" y="3557016"/>
            <a:ext cx="109728" cy="1143000"/>
          </a:xfrm>
          <a:prstGeom prst="rect">
            <a:avLst/>
          </a:prstGeom>
          <a:solidFill>
            <a:srgbClr val="8400E0"/>
          </a:solidFill>
          <a:ln w="12700">
            <a:solidFill>
              <a:srgbClr val="840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666744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041648" y="36301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014"/>
                </a:solidFill>
              </a:rPr>
              <a:t>Sin inteligencia colectiva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041648" y="394106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/>
              <a:t>Cada llamada se atiende en silos. No hay análisis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/>
              <a:t>de patrones, zonas de riesgo ni coordinación en tiempo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12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Solución: MexNLP-911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0" y="804672"/>
            <a:ext cx="2743200" cy="4572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b="1" dirty="0">
                <a:solidFill>
                  <a:schemeClr val="bg1"/>
                </a:solidFill>
              </a:rPr>
              <a:t>Un sistema de IA que entiende el español coloquial mexicano para clasificar CUALQUIER emergencia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b="1" dirty="0">
                <a:solidFill>
                  <a:schemeClr val="bg1"/>
                </a:solidFill>
              </a:rPr>
              <a:t>— salud, seguridad, incendio — y coordinar recursos institucionales en tiempo real.</a:t>
            </a:r>
          </a:p>
        </p:txBody>
      </p:sp>
      <p:sp>
        <p:nvSpPr>
          <p:cNvPr id="6" name="Shape 4"/>
          <p:cNvSpPr/>
          <p:nvPr/>
        </p:nvSpPr>
        <p:spPr>
          <a:xfrm>
            <a:off x="274320" y="1719072"/>
            <a:ext cx="2029968" cy="3017520"/>
          </a:xfrm>
          <a:prstGeom prst="rect">
            <a:avLst/>
          </a:prstGeom>
          <a:solidFill>
            <a:schemeClr val="bg1">
              <a:alpha val="18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23544" y="1874520"/>
            <a:ext cx="658368" cy="6583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9202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6060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Coloquial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3017520"/>
            <a:ext cx="18470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</a:rPr>
              <a:t>Corpus MexSalud-911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</a:rPr>
              <a:t>150+ expresiones anotadas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</a:rPr>
              <a:t>por nivel de urgencia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50592" y="1719072"/>
            <a:ext cx="2029968" cy="3017520"/>
          </a:xfrm>
          <a:prstGeom prst="rect">
            <a:avLst/>
          </a:prstGeom>
          <a:solidFill>
            <a:srgbClr val="00C2E0">
              <a:alpha val="18000"/>
            </a:srgbClr>
          </a:solidFill>
          <a:ln w="12700">
            <a:solidFill>
              <a:srgbClr val="00C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099816" y="1874520"/>
            <a:ext cx="658368" cy="658368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536" y="19202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23744" y="26060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Triage Inteligente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42032" y="3017520"/>
            <a:ext cx="18470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</a:rPr>
              <a:t>Clasificación 5 niveles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</a:rPr>
              <a:t>Salud · Seguridad · Incendio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</a:rPr>
              <a:t>Respuesta &lt; 45 seg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26864" y="1719072"/>
            <a:ext cx="2029968" cy="3017520"/>
          </a:xfrm>
          <a:prstGeom prst="rect">
            <a:avLst/>
          </a:prstGeom>
          <a:solidFill>
            <a:srgbClr val="1AAA55">
              <a:alpha val="18000"/>
            </a:srgbClr>
          </a:solidFill>
          <a:ln w="12700">
            <a:solidFill>
              <a:srgbClr val="1A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276088" y="1874520"/>
            <a:ext cx="658368" cy="658368"/>
          </a:xfrm>
          <a:prstGeom prst="ellipse">
            <a:avLst/>
          </a:prstGeom>
          <a:solidFill>
            <a:srgbClr val="1AAA55"/>
          </a:solidFill>
          <a:ln w="12700">
            <a:solidFill>
              <a:srgbClr val="1A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19202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0016" y="26060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18304" y="3017520"/>
            <a:ext cx="18470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</a:rPr>
              <a:t>Agentes especializados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</a:rPr>
              <a:t>por tipo de emergencia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</a:rPr>
              <a:t>Informes automáticos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803136" y="1719072"/>
            <a:ext cx="2029968" cy="3017520"/>
          </a:xfrm>
          <a:prstGeom prst="rect">
            <a:avLst/>
          </a:prstGeom>
          <a:solidFill>
            <a:srgbClr val="E07800">
              <a:alpha val="18000"/>
            </a:srgbClr>
          </a:solidFill>
          <a:ln w="12700">
            <a:solidFill>
              <a:srgbClr val="E0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452360" y="1874520"/>
            <a:ext cx="658368" cy="658368"/>
          </a:xfrm>
          <a:prstGeom prst="ellipse">
            <a:avLst/>
          </a:prstGeom>
          <a:solidFill>
            <a:srgbClr val="E07800"/>
          </a:solidFill>
          <a:ln w="12700">
            <a:solidFill>
              <a:srgbClr val="E0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92024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76288" y="26060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Autoridad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894576" y="3017520"/>
            <a:ext cx="18470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</a:rPr>
              <a:t>Patrones y estadísticas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</a:rPr>
              <a:t>Coordinación de recursos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</a:rPr>
              <a:t>Toma de decisiones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chemeClr val="tx1"/>
          </a:solidFill>
          <a:ln w="12700">
            <a:solidFill>
              <a:srgbClr val="1A0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Multi-Agente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1051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AAAAA"/>
                </a:solidFill>
              </a:rPr>
              <a:t>ENTRADA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1920240" cy="804672"/>
          </a:xfrm>
          <a:prstGeom prst="rect">
            <a:avLst/>
          </a:prstGeom>
          <a:solidFill>
            <a:srgbClr val="8400E0">
              <a:alpha val="15000"/>
            </a:srgbClr>
          </a:solidFill>
          <a:ln w="12700">
            <a:solidFill>
              <a:srgbClr val="840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4630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43560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0014"/>
                </a:solidFill>
              </a:rPr>
              <a:t>Llamada 911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0014"/>
                </a:solidFill>
              </a:rPr>
              <a:t>Texto / Audio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176272" y="1719072"/>
            <a:ext cx="502920" cy="0"/>
          </a:xfrm>
          <a:prstGeom prst="line">
            <a:avLst/>
          </a:prstGeom>
          <a:noFill/>
          <a:ln w="25400">
            <a:solidFill>
              <a:srgbClr val="840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697480" y="1051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AAAAA"/>
                </a:solidFill>
              </a:rPr>
              <a:t>CLASIFICACIÓN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697480" y="1325880"/>
            <a:ext cx="2011680" cy="804672"/>
          </a:xfrm>
          <a:prstGeom prst="rect">
            <a:avLst/>
          </a:prstGeom>
          <a:solidFill>
            <a:srgbClr val="00C2E0">
              <a:alpha val="15000"/>
            </a:srgbClr>
          </a:solidFill>
          <a:ln w="12700">
            <a:solidFill>
              <a:srgbClr val="00C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4630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143560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0014"/>
                </a:solidFill>
              </a:rPr>
              <a:t>NLP Coloquial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0014"/>
                </a:solidFill>
              </a:rPr>
              <a:t>+ Clasificador XGBoost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736592" y="1719072"/>
            <a:ext cx="502920" cy="0"/>
          </a:xfrm>
          <a:prstGeom prst="line">
            <a:avLst/>
          </a:prstGeom>
          <a:noFill/>
          <a:ln w="25400">
            <a:solidFill>
              <a:srgbClr val="00C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257800" y="1051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AAAAA"/>
                </a:solidFill>
              </a:rPr>
              <a:t>ROUTER DE AGENTES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257800" y="1325880"/>
            <a:ext cx="2011680" cy="804672"/>
          </a:xfrm>
          <a:prstGeom prst="rect">
            <a:avLst/>
          </a:prstGeom>
          <a:solidFill>
            <a:srgbClr val="1AAA55">
              <a:alpha val="15000"/>
            </a:srgbClr>
          </a:solidFill>
          <a:ln w="12700">
            <a:solidFill>
              <a:srgbClr val="1A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46304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06440" y="143560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0014"/>
                </a:solidFill>
              </a:rPr>
              <a:t>Orquestador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0014"/>
                </a:solidFill>
              </a:rPr>
              <a:t>(tipo de emergencia)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28600" y="23774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AAAAA"/>
                </a:solidFill>
              </a:rPr>
              <a:t>AGENTES ESPECIALIZADOS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228600" y="2697480"/>
            <a:ext cx="2743200" cy="1691640"/>
          </a:xfrm>
          <a:prstGeom prst="rect">
            <a:avLst/>
          </a:prstGeom>
          <a:solidFill>
            <a:srgbClr val="1AAA55">
              <a:alpha val="12000"/>
            </a:srgbClr>
          </a:solidFill>
          <a:ln w="12700">
            <a:solidFill>
              <a:srgbClr val="1A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228600" y="2697480"/>
            <a:ext cx="2743200" cy="347472"/>
          </a:xfrm>
          <a:prstGeom prst="rect">
            <a:avLst/>
          </a:prstGeom>
          <a:solidFill>
            <a:srgbClr val="1AAA55">
              <a:alpha val="80000"/>
            </a:srgbClr>
          </a:solidFill>
          <a:ln w="12700">
            <a:solidFill>
              <a:srgbClr val="1A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" y="27249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1792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014"/>
                </a:solidFill>
              </a:rPr>
              <a:t>Agente Salud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93192" y="3145536"/>
            <a:ext cx="73152" cy="73152"/>
          </a:xfrm>
          <a:prstGeom prst="ellipse">
            <a:avLst/>
          </a:prstGeom>
          <a:solidFill>
            <a:srgbClr val="1AAA55"/>
          </a:solidFill>
          <a:ln w="12700">
            <a:solidFill>
              <a:srgbClr val="1A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530352" y="30723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Triage 5 niveles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93192" y="3483864"/>
            <a:ext cx="73152" cy="73152"/>
          </a:xfrm>
          <a:prstGeom prst="ellipse">
            <a:avLst/>
          </a:prstGeom>
          <a:solidFill>
            <a:srgbClr val="1AAA55"/>
          </a:solidFill>
          <a:ln w="12700">
            <a:solidFill>
              <a:srgbClr val="1A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30352" y="34107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Alerta médico especialista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93192" y="3822192"/>
            <a:ext cx="73152" cy="73152"/>
          </a:xfrm>
          <a:prstGeom prst="ellipse">
            <a:avLst/>
          </a:prstGeom>
          <a:solidFill>
            <a:srgbClr val="1AAA55"/>
          </a:solidFill>
          <a:ln w="12700">
            <a:solidFill>
              <a:srgbClr val="1A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530352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Protocolo clínico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00400" y="2697480"/>
            <a:ext cx="2743200" cy="1691640"/>
          </a:xfrm>
          <a:prstGeom prst="rect">
            <a:avLst/>
          </a:prstGeom>
          <a:solidFill>
            <a:srgbClr val="8400E0">
              <a:alpha val="12000"/>
            </a:srgbClr>
          </a:solidFill>
          <a:ln w="12700">
            <a:solidFill>
              <a:srgbClr val="840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200400" y="2697480"/>
            <a:ext cx="2743200" cy="347472"/>
          </a:xfrm>
          <a:prstGeom prst="rect">
            <a:avLst/>
          </a:prstGeom>
          <a:solidFill>
            <a:srgbClr val="7030A0">
              <a:alpha val="80000"/>
            </a:srgbClr>
          </a:solidFill>
          <a:ln w="12700">
            <a:solidFill>
              <a:srgbClr val="840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552" y="272491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593592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014"/>
                </a:solidFill>
              </a:rPr>
              <a:t>Agente Seguridad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3364992" y="3145536"/>
            <a:ext cx="73152" cy="73152"/>
          </a:xfrm>
          <a:prstGeom prst="ellipse">
            <a:avLst/>
          </a:prstGeom>
          <a:solidFill>
            <a:srgbClr val="8400E0"/>
          </a:solidFill>
          <a:ln w="12700">
            <a:solidFill>
              <a:srgbClr val="840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3502152" y="30723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Clasificar asalto / robo / violencia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3364992" y="3483864"/>
            <a:ext cx="73152" cy="73152"/>
          </a:xfrm>
          <a:prstGeom prst="ellipse">
            <a:avLst/>
          </a:prstGeom>
          <a:solidFill>
            <a:srgbClr val="8400E0"/>
          </a:solidFill>
          <a:ln w="12700">
            <a:solidFill>
              <a:srgbClr val="840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3502152" y="34107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Despacho policía + patrullas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3364992" y="3822192"/>
            <a:ext cx="73152" cy="73152"/>
          </a:xfrm>
          <a:prstGeom prst="ellipse">
            <a:avLst/>
          </a:prstGeom>
          <a:solidFill>
            <a:srgbClr val="8400E0"/>
          </a:solidFill>
          <a:ln w="12700">
            <a:solidFill>
              <a:srgbClr val="840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3502152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Zona de riesgo activa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172200" y="2697480"/>
            <a:ext cx="2743200" cy="1691640"/>
          </a:xfrm>
          <a:prstGeom prst="rect">
            <a:avLst/>
          </a:prstGeom>
          <a:solidFill>
            <a:srgbClr val="E07800">
              <a:alpha val="12000"/>
            </a:srgbClr>
          </a:solidFill>
          <a:ln w="12700">
            <a:solidFill>
              <a:srgbClr val="E0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6172200" y="2697480"/>
            <a:ext cx="2743200" cy="347472"/>
          </a:xfrm>
          <a:prstGeom prst="rect">
            <a:avLst/>
          </a:prstGeom>
          <a:solidFill>
            <a:srgbClr val="E07800">
              <a:alpha val="80000"/>
            </a:srgbClr>
          </a:solidFill>
          <a:ln w="12700">
            <a:solidFill>
              <a:srgbClr val="E0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2724912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565392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014"/>
                </a:solidFill>
              </a:rPr>
              <a:t>Agente Bomberos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6336792" y="3145536"/>
            <a:ext cx="73152" cy="73152"/>
          </a:xfrm>
          <a:prstGeom prst="ellipse">
            <a:avLst/>
          </a:prstGeom>
          <a:solidFill>
            <a:srgbClr val="E07800"/>
          </a:solidFill>
          <a:ln w="12700">
            <a:solidFill>
              <a:srgbClr val="E0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6473952" y="30723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Tipo de incidente (fuego / fuga)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336792" y="3483864"/>
            <a:ext cx="73152" cy="73152"/>
          </a:xfrm>
          <a:prstGeom prst="ellipse">
            <a:avLst/>
          </a:prstGeom>
          <a:solidFill>
            <a:srgbClr val="E07800"/>
          </a:solidFill>
          <a:ln w="12700">
            <a:solidFill>
              <a:srgbClr val="E0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6473952" y="34107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Recursos requeridos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6336792" y="3822192"/>
            <a:ext cx="73152" cy="73152"/>
          </a:xfrm>
          <a:prstGeom prst="ellipse">
            <a:avLst/>
          </a:prstGeom>
          <a:solidFill>
            <a:srgbClr val="E07800"/>
          </a:solidFill>
          <a:ln w="12700">
            <a:solidFill>
              <a:srgbClr val="E0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6473952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Protocolo evacuación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228600" y="4572000"/>
            <a:ext cx="8686800" cy="411480"/>
          </a:xfrm>
          <a:prstGeom prst="rect">
            <a:avLst/>
          </a:prstGeom>
          <a:solidFill>
            <a:srgbClr val="1A0035"/>
          </a:solidFill>
          <a:ln w="12700">
            <a:solidFill>
              <a:srgbClr val="C27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" y="4626864"/>
            <a:ext cx="292608" cy="29260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94944" y="4608576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E0"/>
                </a:solidFill>
              </a:rPr>
              <a:t>Dashboard de Autoridades → Estadísticas · Patrones · Coordinación de recursos en tiempo real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1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y Diferenciadores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017520" y="749808"/>
            <a:ext cx="3108960" cy="457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Impacto medible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1828800" cy="1188720"/>
          </a:xfrm>
          <a:prstGeom prst="rect">
            <a:avLst/>
          </a:prstGeom>
          <a:solidFill>
            <a:srgbClr val="00C2E0">
              <a:alpha val="12000"/>
            </a:srgbClr>
          </a:solidFill>
          <a:ln w="12700">
            <a:solidFill>
              <a:srgbClr val="00C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45s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0482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de clasificación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(vs. 3 min manual)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31720" y="1389888"/>
            <a:ext cx="1828800" cy="1188720"/>
          </a:xfrm>
          <a:prstGeom prst="rect">
            <a:avLst/>
          </a:prstGeom>
          <a:solidFill>
            <a:srgbClr val="1AAA55">
              <a:alpha val="12000"/>
            </a:srgbClr>
          </a:solidFill>
          <a:ln w="12700">
            <a:solidFill>
              <a:srgbClr val="1A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31720" y="1481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A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92%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31720" y="20482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precisión en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emergencias nivel 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779776"/>
            <a:ext cx="1828800" cy="1188720"/>
          </a:xfrm>
          <a:prstGeom prst="rect">
            <a:avLst/>
          </a:prstGeom>
          <a:solidFill>
            <a:srgbClr val="C27AFF">
              <a:alpha val="12000"/>
            </a:srgbClr>
          </a:solidFill>
          <a:ln w="12700">
            <a:solidFill>
              <a:srgbClr val="C27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87121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2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tipos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de emergencia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atendidos simultáneamente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31720" y="2779776"/>
            <a:ext cx="1828800" cy="1188720"/>
          </a:xfrm>
          <a:prstGeom prst="rect">
            <a:avLst/>
          </a:prstGeom>
          <a:solidFill>
            <a:srgbClr val="E07800">
              <a:alpha val="12000"/>
            </a:srgbClr>
          </a:solidFill>
          <a:ln w="12700">
            <a:solidFill>
              <a:srgbClr val="E0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31720" y="287121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7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331720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on-premise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</a:rPr>
              <a:t>sin datos a APIs externas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914400"/>
            <a:ext cx="0" cy="393192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 que nos hace únicos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1389888"/>
            <a:ext cx="4114800" cy="749808"/>
          </a:xfrm>
          <a:prstGeom prst="rect">
            <a:avLst/>
          </a:prstGeom>
          <a:solidFill>
            <a:srgbClr val="00C2E0">
              <a:alpha val="10000"/>
            </a:srgbClr>
          </a:solidFill>
          <a:ln w="10160">
            <a:solidFill>
              <a:srgbClr val="00C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389888"/>
            <a:ext cx="91440" cy="74980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54480"/>
            <a:ext cx="347472" cy="3474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303520" y="148132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Primer corpus de PLN </a:t>
            </a:r>
            <a:r>
              <a:rPr lang="en-US" sz="950" dirty="0" err="1">
                <a:solidFill>
                  <a:srgbClr val="FFFFFF"/>
                </a:solidFill>
              </a:rPr>
              <a:t>que</a:t>
            </a:r>
            <a:r>
              <a:rPr lang="en-US" sz="950" dirty="0">
                <a:solidFill>
                  <a:srgbClr val="FFFFFF"/>
                </a:solidFill>
              </a:rPr>
              <a:t> </a:t>
            </a:r>
            <a:r>
              <a:rPr lang="en-US" sz="950" dirty="0" err="1">
                <a:solidFill>
                  <a:srgbClr val="FFFFFF"/>
                </a:solidFill>
              </a:rPr>
              <a:t>procesa</a:t>
            </a:r>
            <a:r>
              <a:rPr lang="en-US" sz="950" dirty="0">
                <a:solidFill>
                  <a:srgbClr val="FFFFFF"/>
                </a:solidFill>
              </a:rPr>
              <a:t> las </a:t>
            </a:r>
            <a:r>
              <a:rPr lang="en-US" sz="950" dirty="0" err="1">
                <a:solidFill>
                  <a:srgbClr val="FFFFFF"/>
                </a:solidFill>
              </a:rPr>
              <a:t>expresiones</a:t>
            </a:r>
            <a:r>
              <a:rPr lang="en-US" sz="950" dirty="0">
                <a:solidFill>
                  <a:srgbClr val="FFFFFF"/>
                </a:solidFill>
              </a:rPr>
              <a:t>: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‘</a:t>
            </a:r>
            <a:r>
              <a:rPr lang="en-US" sz="950" dirty="0" err="1">
                <a:solidFill>
                  <a:srgbClr val="FFFFFF"/>
                </a:solidFill>
              </a:rPr>
              <a:t>está</a:t>
            </a:r>
            <a:r>
              <a:rPr lang="en-US" sz="950" dirty="0">
                <a:solidFill>
                  <a:srgbClr val="FFFFFF"/>
                </a:solidFill>
              </a:rPr>
              <a:t> </a:t>
            </a:r>
            <a:r>
              <a:rPr lang="en-US" sz="950" dirty="0" err="1">
                <a:solidFill>
                  <a:srgbClr val="FFFFFF"/>
                </a:solidFill>
              </a:rPr>
              <a:t>tieso</a:t>
            </a:r>
            <a:r>
              <a:rPr lang="en-US" sz="950" dirty="0">
                <a:solidFill>
                  <a:srgbClr val="FFFFFF"/>
                </a:solidFill>
              </a:rPr>
              <a:t>’, ‘no se </a:t>
            </a:r>
            <a:r>
              <a:rPr lang="en-US" sz="950" dirty="0" err="1">
                <a:solidFill>
                  <a:srgbClr val="FFFFFF"/>
                </a:solidFill>
              </a:rPr>
              <a:t>mueve</a:t>
            </a:r>
            <a:r>
              <a:rPr lang="en-US" sz="950" dirty="0">
                <a:solidFill>
                  <a:srgbClr val="FFFFFF"/>
                </a:solidFill>
              </a:rPr>
              <a:t> </a:t>
            </a:r>
            <a:r>
              <a:rPr lang="en-US" sz="950" dirty="0" err="1">
                <a:solidFill>
                  <a:srgbClr val="FFFFFF"/>
                </a:solidFill>
              </a:rPr>
              <a:t>ni</a:t>
            </a:r>
            <a:r>
              <a:rPr lang="en-US" sz="950" dirty="0">
                <a:solidFill>
                  <a:srgbClr val="FFFFFF"/>
                </a:solidFill>
              </a:rPr>
              <a:t> </a:t>
            </a:r>
            <a:r>
              <a:rPr lang="en-US" sz="950" dirty="0" err="1">
                <a:solidFill>
                  <a:srgbClr val="FFFFFF"/>
                </a:solidFill>
              </a:rPr>
              <a:t>tantito</a:t>
            </a:r>
            <a:r>
              <a:rPr lang="en-US" sz="950" dirty="0">
                <a:solidFill>
                  <a:srgbClr val="FFFFFF"/>
                </a:solidFill>
              </a:rPr>
              <a:t>’, 'está azul', ‘</a:t>
            </a:r>
            <a:r>
              <a:rPr lang="en-US" sz="950" dirty="0" err="1">
                <a:solidFill>
                  <a:srgbClr val="FFFFFF"/>
                </a:solidFill>
              </a:rPr>
              <a:t>trae</a:t>
            </a:r>
            <a:r>
              <a:rPr lang="en-US" sz="950" dirty="0">
                <a:solidFill>
                  <a:srgbClr val="FFFFFF"/>
                </a:solidFill>
              </a:rPr>
              <a:t> la boca chueca'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4880" y="2258568"/>
            <a:ext cx="4114800" cy="749808"/>
          </a:xfrm>
          <a:prstGeom prst="rect">
            <a:avLst/>
          </a:prstGeom>
          <a:solidFill>
            <a:srgbClr val="1AAA55">
              <a:alpha val="10000"/>
            </a:srgbClr>
          </a:solidFill>
          <a:ln w="10160">
            <a:solidFill>
              <a:srgbClr val="1A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54880" y="2258568"/>
            <a:ext cx="91440" cy="749808"/>
          </a:xfrm>
          <a:prstGeom prst="rect">
            <a:avLst/>
          </a:prstGeom>
          <a:solidFill>
            <a:srgbClr val="1AAA55"/>
          </a:solidFill>
          <a:ln w="12700">
            <a:solidFill>
              <a:srgbClr val="1A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23160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303520" y="235000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 err="1">
                <a:solidFill>
                  <a:srgbClr val="FFFFFF"/>
                </a:solidFill>
              </a:rPr>
              <a:t>Optimización</a:t>
            </a:r>
            <a:r>
              <a:rPr lang="en-US" sz="950" dirty="0">
                <a:solidFill>
                  <a:srgbClr val="FFFFFF"/>
                </a:solidFill>
              </a:rPr>
              <a:t> de Soluciones </a:t>
            </a:r>
            <a:r>
              <a:rPr lang="en-US" sz="950" dirty="0" err="1">
                <a:solidFill>
                  <a:srgbClr val="FFFFFF"/>
                </a:solidFill>
              </a:rPr>
              <a:t>Inteligentes</a:t>
            </a:r>
            <a:r>
              <a:rPr lang="en-US" sz="950" dirty="0">
                <a:solidFill>
                  <a:srgbClr val="FFFFFF"/>
                </a:solidFill>
              </a:rPr>
              <a:t>: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 err="1">
                <a:solidFill>
                  <a:srgbClr val="FFFFFF"/>
                </a:solidFill>
              </a:rPr>
              <a:t>Arquitectura</a:t>
            </a:r>
            <a:r>
              <a:rPr lang="en-US" sz="950" dirty="0">
                <a:solidFill>
                  <a:srgbClr val="FFFFFF"/>
                </a:solidFill>
              </a:rPr>
              <a:t> de </a:t>
            </a:r>
            <a:r>
              <a:rPr lang="en-US" sz="950" dirty="0" err="1">
                <a:solidFill>
                  <a:srgbClr val="FFFFFF"/>
                </a:solidFill>
              </a:rPr>
              <a:t>Algoritmo</a:t>
            </a:r>
            <a:r>
              <a:rPr lang="en-US" sz="950" dirty="0">
                <a:solidFill>
                  <a:srgbClr val="FFFFFF"/>
                </a:solidFill>
              </a:rPr>
              <a:t> de </a:t>
            </a:r>
            <a:r>
              <a:rPr lang="en-US" sz="950" dirty="0" err="1">
                <a:solidFill>
                  <a:srgbClr val="FFFFFF"/>
                </a:solidFill>
              </a:rPr>
              <a:t>Clasificación</a:t>
            </a:r>
            <a:r>
              <a:rPr lang="en-US" sz="950" dirty="0">
                <a:solidFill>
                  <a:srgbClr val="FFFFFF"/>
                </a:solidFill>
              </a:rPr>
              <a:t> + Multi-</a:t>
            </a:r>
            <a:r>
              <a:rPr lang="en-US" sz="950" dirty="0" err="1">
                <a:solidFill>
                  <a:srgbClr val="FFFFFF"/>
                </a:solidFill>
              </a:rPr>
              <a:t>agente</a:t>
            </a:r>
            <a:r>
              <a:rPr lang="en-US" sz="950" dirty="0">
                <a:solidFill>
                  <a:srgbClr val="FFFFFF"/>
                </a:solidFill>
              </a:rPr>
              <a:t>: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 err="1">
                <a:solidFill>
                  <a:srgbClr val="FFFFFF"/>
                </a:solidFill>
              </a:rPr>
              <a:t>salud</a:t>
            </a:r>
            <a:r>
              <a:rPr lang="en-US" sz="950" dirty="0">
                <a:solidFill>
                  <a:srgbClr val="FFFFFF"/>
                </a:solidFill>
              </a:rPr>
              <a:t> + </a:t>
            </a:r>
            <a:r>
              <a:rPr lang="en-US" sz="950" dirty="0" err="1">
                <a:solidFill>
                  <a:srgbClr val="FFFFFF"/>
                </a:solidFill>
              </a:rPr>
              <a:t>seguridad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FFFFFF"/>
                </a:solidFill>
              </a:rPr>
              <a:t>+ bomberos en una sola plataforma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754880" y="3127248"/>
            <a:ext cx="4114800" cy="749808"/>
          </a:xfrm>
          <a:prstGeom prst="rect">
            <a:avLst/>
          </a:prstGeom>
          <a:solidFill>
            <a:srgbClr val="E07800">
              <a:alpha val="10000"/>
            </a:srgbClr>
          </a:solidFill>
          <a:ln w="10160">
            <a:solidFill>
              <a:srgbClr val="E0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754880" y="3127248"/>
            <a:ext cx="91440" cy="749808"/>
          </a:xfrm>
          <a:prstGeom prst="rect">
            <a:avLst/>
          </a:prstGeom>
          <a:solidFill>
            <a:srgbClr val="E07800"/>
          </a:solidFill>
          <a:ln w="12700">
            <a:solidFill>
              <a:srgbClr val="E07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291840"/>
            <a:ext cx="347472" cy="34747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303520" y="321868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Dashboard para autoridades con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patrones, hotspots y coordinación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54880" y="3995928"/>
            <a:ext cx="4114800" cy="749808"/>
          </a:xfrm>
          <a:prstGeom prst="rect">
            <a:avLst/>
          </a:prstGeom>
          <a:solidFill>
            <a:srgbClr val="C27AFF">
              <a:alpha val="10000"/>
            </a:srgbClr>
          </a:solidFill>
          <a:ln w="10160">
            <a:solidFill>
              <a:srgbClr val="C27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4754880" y="3995928"/>
            <a:ext cx="91440" cy="749808"/>
          </a:xfrm>
          <a:prstGeom prst="rect">
            <a:avLst/>
          </a:prstGeom>
          <a:solidFill>
            <a:srgbClr val="C27AFF"/>
          </a:solidFill>
          <a:ln w="12700">
            <a:solidFill>
              <a:srgbClr val="C27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160520"/>
            <a:ext cx="347472" cy="34747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303520" y="408736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Privacy by design: LGPDPSO,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anonimización, sin PII en reposo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1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chemeClr val="tx1">
              <a:alpha val="7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40480" y="256032"/>
            <a:ext cx="1371600" cy="1371600"/>
          </a:xfrm>
          <a:prstGeom prst="ellipse">
            <a:avLst/>
          </a:prstGeom>
          <a:solidFill>
            <a:schemeClr val="bg1">
              <a:alpha val="70000"/>
            </a:schemeClr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420624"/>
            <a:ext cx="1024128" cy="1024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830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Una llamada. Una vida.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926080" y="2423160"/>
            <a:ext cx="3291840" cy="457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2542032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MexNLP-911 conecta la voz del ciudadano mexicano con la respuesta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institucional correcta — en menos de 45 segundos.</a:t>
            </a:r>
          </a:p>
        </p:txBody>
      </p:sp>
      <p:sp>
        <p:nvSpPr>
          <p:cNvPr id="9" name="Shape 6"/>
          <p:cNvSpPr/>
          <p:nvPr/>
        </p:nvSpPr>
        <p:spPr>
          <a:xfrm>
            <a:off x="960120" y="3401568"/>
            <a:ext cx="2286000" cy="384048"/>
          </a:xfrm>
          <a:prstGeom prst="rect">
            <a:avLst/>
          </a:prstGeom>
          <a:solidFill>
            <a:schemeClr val="tx1">
              <a:alpha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60120" y="3401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NLP Coloquial Mexicano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47288" y="3401568"/>
            <a:ext cx="2286000" cy="384048"/>
          </a:xfrm>
          <a:prstGeom prst="rect">
            <a:avLst/>
          </a:prstGeom>
          <a:solidFill>
            <a:srgbClr val="002060">
              <a:alpha val="80000"/>
            </a:srgbClr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47288" y="3401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Arquitectura Multi-Agente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34456" y="3401568"/>
            <a:ext cx="2286000" cy="384048"/>
          </a:xfrm>
          <a:prstGeom prst="rect">
            <a:avLst/>
          </a:prstGeom>
          <a:solidFill>
            <a:srgbClr val="FF0000">
              <a:alpha val="80000"/>
            </a:srgbClr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34456" y="3401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Coordinación Institucional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3931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</a:t>
            </a:r>
            <a:r>
              <a:rPr lang="en-US" sz="13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podría</a:t>
            </a:r>
            <a:r>
              <a:rPr lang="en-US" sz="13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3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ML + IA </a:t>
            </a:r>
            <a:r>
              <a:rPr lang="en-US" sz="13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3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herramientas</a:t>
            </a:r>
            <a:r>
              <a:rPr lang="en-US" sz="13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complementarias</a:t>
            </a:r>
            <a:r>
              <a:rPr lang="en-US" sz="13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salvar</a:t>
            </a:r>
            <a:r>
              <a:rPr lang="en-US" sz="13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próxima vida que llame al 911?</a:t>
            </a:r>
            <a:endParaRPr lang="en-US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0" y="47731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</a:rPr>
              <a:t>Concienc.ia Hackathon México 2026  ·  Young AI Leaders Community  ·  hackathon.youngaileaders.info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487</Words>
  <Application>Microsoft Office PowerPoint</Application>
  <PresentationFormat>On-screen Show (16:9)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MexNLP-911 · Pitch Deck</dc:title>
  <dc:subject>PptxGenJS Presentation</dc:subject>
  <dc:creator>Concienc.ia Hackathon 2026</dc:creator>
  <cp:lastModifiedBy>Jessica Romero</cp:lastModifiedBy>
  <cp:revision>4</cp:revision>
  <dcterms:created xsi:type="dcterms:W3CDTF">2026-06-06T14:58:24Z</dcterms:created>
  <dcterms:modified xsi:type="dcterms:W3CDTF">2026-06-06T18:02:26Z</dcterms:modified>
</cp:coreProperties>
</file>